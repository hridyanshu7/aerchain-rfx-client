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6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960120"/>
            <a:ext cx="50292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00" b="1" dirty="0">
                <a:solidFill>
                  <a:srgbClr val="FFFE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RFX</a:t>
            </a:r>
            <a:endParaRPr lang="en-US" sz="4500" dirty="0"/>
          </a:p>
          <a:p>
            <a:pPr indent="0" marL="0">
              <a:buNone/>
            </a:pPr>
            <a:r>
              <a:rPr lang="en-US" sz="4500" b="1" dirty="0">
                <a:solidFill>
                  <a:srgbClr val="FFFE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PILOT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676656" y="28346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FF3CD"/>
                </a:solidFill>
              </a:rPr>
              <a:t>Kill the quote spreadsheet.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76656" y="3337560"/>
            <a:ext cx="5303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5EF"/>
                </a:solidFill>
              </a:rPr>
              <a:t>A guided AI workspace that turns messy vendor responses into defensible sourcing decisions.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720840" y="960120"/>
            <a:ext cx="4389120" cy="4480560"/>
          </a:xfrm>
          <a:prstGeom prst="roundRect">
            <a:avLst>
              <a:gd name="adj" fmla="val 2083"/>
            </a:avLst>
          </a:prstGeom>
          <a:solidFill>
            <a:srgbClr val="0D5146"/>
          </a:solidFill>
          <a:ln w="12700">
            <a:solidFill>
              <a:srgbClr val="3A8B7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06640" y="1481328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EFA"/>
                </a:solidFill>
              </a:rPr>
              <a:t>Create</a:t>
            </a:r>
            <a:endParaRPr lang="en-US" sz="2700" dirty="0"/>
          </a:p>
          <a:p>
            <a:pPr algn="ctr" indent="0" marL="0">
              <a:buNone/>
            </a:pPr>
            <a:r>
              <a:rPr lang="en-US" sz="2700" b="1" dirty="0">
                <a:solidFill>
                  <a:srgbClr val="FFFEFA"/>
                </a:solidFill>
              </a:rPr>
              <a:t>↓</a:t>
            </a:r>
            <a:endParaRPr lang="en-US" sz="2700" dirty="0"/>
          </a:p>
          <a:p>
            <a:pPr algn="ctr" indent="0" marL="0">
              <a:buNone/>
            </a:pPr>
            <a:r>
              <a:rPr lang="en-US" sz="2700" b="1" dirty="0">
                <a:solidFill>
                  <a:srgbClr val="FFFEFA"/>
                </a:solidFill>
              </a:rPr>
              <a:t>Collect</a:t>
            </a:r>
            <a:endParaRPr lang="en-US" sz="2700" dirty="0"/>
          </a:p>
          <a:p>
            <a:pPr algn="ctr" indent="0" marL="0">
              <a:buNone/>
            </a:pPr>
            <a:r>
              <a:rPr lang="en-US" sz="2700" b="1" dirty="0">
                <a:solidFill>
                  <a:srgbClr val="FFFEFA"/>
                </a:solidFill>
              </a:rPr>
              <a:t>↓</a:t>
            </a:r>
            <a:endParaRPr lang="en-US" sz="2700" dirty="0"/>
          </a:p>
          <a:p>
            <a:pPr algn="ctr" indent="0" marL="0">
              <a:buNone/>
            </a:pPr>
            <a:r>
              <a:rPr lang="en-US" sz="2700" b="1" dirty="0">
                <a:solidFill>
                  <a:srgbClr val="FFFEFA"/>
                </a:solidFill>
              </a:rPr>
              <a:t>Compare</a:t>
            </a:r>
            <a:endParaRPr lang="en-US" sz="2700" dirty="0"/>
          </a:p>
          <a:p>
            <a:pPr algn="ctr" indent="0" marL="0">
              <a:buNone/>
            </a:pPr>
            <a:r>
              <a:rPr lang="en-US" sz="2700" b="1" dirty="0">
                <a:solidFill>
                  <a:srgbClr val="FFFEFA"/>
                </a:solidFill>
              </a:rPr>
              <a:t>↓</a:t>
            </a:r>
            <a:endParaRPr lang="en-US" sz="2700" dirty="0"/>
          </a:p>
          <a:p>
            <a:pPr algn="ctr" indent="0" marL="0">
              <a:buNone/>
            </a:pPr>
            <a:r>
              <a:rPr lang="en-US" sz="2700" b="1" dirty="0">
                <a:solidFill>
                  <a:srgbClr val="FFFEFA"/>
                </a:solidFill>
              </a:rPr>
              <a:t>Award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676656" y="6172200"/>
            <a:ext cx="36576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7D9CC"/>
                </a:solidFill>
              </a:rPr>
              <a:t>Product prototype · September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29768"/>
            <a:ext cx="11155680" cy="0"/>
          </a:xfrm>
          <a:prstGeom prst="line">
            <a:avLst/>
          </a:prstGeom>
          <a:noFill/>
          <a:ln w="12700">
            <a:solidFill>
              <a:srgbClr val="DFE5E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164592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46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RFX PILOT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66928" y="66751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232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problem: procurement runs on fragmented evidence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85216" y="1225296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370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Five vendors can mean five incompatible ways of quoting.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94360" y="1874520"/>
            <a:ext cx="3456432" cy="2057400"/>
          </a:xfrm>
          <a:prstGeom prst="roundRect">
            <a:avLst>
              <a:gd name="adj" fmla="val 3556"/>
            </a:avLst>
          </a:prstGeom>
          <a:solidFill>
            <a:srgbClr val="FFFEFA"/>
          </a:solidFill>
          <a:ln w="12700">
            <a:solidFill>
              <a:srgbClr val="DFE5E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874520"/>
            <a:ext cx="64008" cy="2057400"/>
          </a:xfrm>
          <a:prstGeom prst="rect">
            <a:avLst/>
          </a:prstGeom>
          <a:solidFill>
            <a:srgbClr val="146C5C"/>
          </a:solidFill>
          <a:ln w="12700">
            <a:solidFill>
              <a:srgbClr val="146C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2057400"/>
            <a:ext cx="3090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329"/>
                </a:solidFill>
              </a:rPr>
              <a:t>Unstructured intake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95528" y="2377440"/>
            <a:ext cx="3072384" cy="1435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37078"/>
                </a:solidFill>
              </a:rPr>
              <a:t>Spreadsheets, PDFs, Word documents, phone photos, and informal email replies.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89120" y="1874520"/>
            <a:ext cx="3456432" cy="2057400"/>
          </a:xfrm>
          <a:prstGeom prst="roundRect">
            <a:avLst>
              <a:gd name="adj" fmla="val 3556"/>
            </a:avLst>
          </a:prstGeom>
          <a:solidFill>
            <a:srgbClr val="FFFEFA"/>
          </a:solidFill>
          <a:ln w="12700">
            <a:solidFill>
              <a:srgbClr val="DFE5E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89120" y="1874520"/>
            <a:ext cx="64008" cy="2057400"/>
          </a:xfrm>
          <a:prstGeom prst="rect">
            <a:avLst/>
          </a:prstGeom>
          <a:solidFill>
            <a:srgbClr val="B76A24"/>
          </a:solidFill>
          <a:ln w="12700">
            <a:solidFill>
              <a:srgbClr val="B76A2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90288" y="2057400"/>
            <a:ext cx="3090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329"/>
                </a:solidFill>
              </a:rPr>
              <a:t>False comparisons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90288" y="2377440"/>
            <a:ext cx="3072384" cy="1435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37078"/>
                </a:solidFill>
              </a:rPr>
              <a:t>Per piece, per 100, per bundle, and per kg cannot be ranked without evidence-backed normalization.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183880" y="1874520"/>
            <a:ext cx="3456432" cy="2057400"/>
          </a:xfrm>
          <a:prstGeom prst="roundRect">
            <a:avLst>
              <a:gd name="adj" fmla="val 3556"/>
            </a:avLst>
          </a:prstGeom>
          <a:solidFill>
            <a:srgbClr val="FFFEFA"/>
          </a:solidFill>
          <a:ln w="12700">
            <a:solidFill>
              <a:srgbClr val="DFE5E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83880" y="1874520"/>
            <a:ext cx="64008" cy="2057400"/>
          </a:xfrm>
          <a:prstGeom prst="rect">
            <a:avLst/>
          </a:prstGeom>
          <a:solidFill>
            <a:srgbClr val="146C5C"/>
          </a:solidFill>
          <a:ln w="12700">
            <a:solidFill>
              <a:srgbClr val="146C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85048" y="2057400"/>
            <a:ext cx="3090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329"/>
                </a:solidFill>
              </a:rPr>
              <a:t>Manual rework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385048" y="2377440"/>
            <a:ext cx="3072384" cy="1435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37078"/>
                </a:solidFill>
              </a:rPr>
              <a:t>Buyers rekey commercial and qualification data before they can answer a single award question.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31520" y="48920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72329"/>
                </a:solidFill>
              </a:rPr>
              <a:t>Design question: can a buyer trust an AI-assisted award when ₹4 crore is on the line?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66928" y="6510528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37078"/>
                </a:solidFill>
              </a:rPr>
              <a:t>02  |  Aerchain product take-home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29768"/>
            <a:ext cx="11155680" cy="0"/>
          </a:xfrm>
          <a:prstGeom prst="line">
            <a:avLst/>
          </a:prstGeom>
          <a:noFill/>
          <a:ln w="12700">
            <a:solidFill>
              <a:srgbClr val="DFE5E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164592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46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RFX PILOT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66928" y="66751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232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Product thesis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85216" y="1225296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370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fixed, guided journey makes sophisticated procurement usable for every user.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58368" y="2148840"/>
            <a:ext cx="1600200" cy="658368"/>
          </a:xfrm>
          <a:prstGeom prst="roundRect">
            <a:avLst>
              <a:gd name="adj" fmla="val 9722"/>
            </a:avLst>
          </a:prstGeom>
          <a:solidFill>
            <a:srgbClr val="146C5C"/>
          </a:solidFill>
          <a:ln w="12700">
            <a:solidFill>
              <a:srgbClr val="146C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4944" y="2377440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EFA"/>
                </a:solidFill>
              </a:rPr>
              <a:t>1  Create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295144" y="235915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37078"/>
                </a:solidFill>
              </a:rPr>
              <a:t>→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532888" y="2148840"/>
            <a:ext cx="1600200" cy="658368"/>
          </a:xfrm>
          <a:prstGeom prst="roundRect">
            <a:avLst>
              <a:gd name="adj" fmla="val 9722"/>
            </a:avLst>
          </a:prstGeom>
          <a:solidFill>
            <a:srgbClr val="FFFEFA"/>
          </a:solidFill>
          <a:ln w="12700">
            <a:solidFill>
              <a:srgbClr val="DFE5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9464" y="2377440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329"/>
                </a:solidFill>
              </a:rPr>
              <a:t>2  Invite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69664" y="235915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37078"/>
                </a:solidFill>
              </a:rPr>
              <a:t>→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407408" y="2148840"/>
            <a:ext cx="1600200" cy="658368"/>
          </a:xfrm>
          <a:prstGeom prst="roundRect">
            <a:avLst>
              <a:gd name="adj" fmla="val 9722"/>
            </a:avLst>
          </a:prstGeom>
          <a:solidFill>
            <a:srgbClr val="FFFEFA"/>
          </a:solidFill>
          <a:ln w="12700">
            <a:solidFill>
              <a:srgbClr val="DFE5E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43984" y="2377440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329"/>
                </a:solidFill>
              </a:rPr>
              <a:t>3  Collect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044184" y="235915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37078"/>
                </a:solidFill>
              </a:rPr>
              <a:t>→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281928" y="2148840"/>
            <a:ext cx="1600200" cy="658368"/>
          </a:xfrm>
          <a:prstGeom prst="roundRect">
            <a:avLst>
              <a:gd name="adj" fmla="val 9722"/>
            </a:avLst>
          </a:prstGeom>
          <a:solidFill>
            <a:srgbClr val="FFFEFA"/>
          </a:solidFill>
          <a:ln w="12700">
            <a:solidFill>
              <a:srgbClr val="DFE5E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18504" y="2377440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329"/>
                </a:solidFill>
              </a:rPr>
              <a:t>4  Compare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918704" y="235915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37078"/>
                </a:solidFill>
              </a:rPr>
              <a:t>→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156448" y="2148840"/>
            <a:ext cx="1600200" cy="658368"/>
          </a:xfrm>
          <a:prstGeom prst="roundRect">
            <a:avLst>
              <a:gd name="adj" fmla="val 9722"/>
            </a:avLst>
          </a:prstGeom>
          <a:solidFill>
            <a:srgbClr val="FFFEFA"/>
          </a:solidFill>
          <a:ln w="12700">
            <a:solidFill>
              <a:srgbClr val="DFE5E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93024" y="2377440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329"/>
                </a:solidFill>
              </a:rPr>
              <a:t>5  Recommend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793224" y="235915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37078"/>
                </a:solidFill>
              </a:rPr>
              <a:t>→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10030968" y="2148840"/>
            <a:ext cx="1600200" cy="658368"/>
          </a:xfrm>
          <a:prstGeom prst="roundRect">
            <a:avLst>
              <a:gd name="adj" fmla="val 9722"/>
            </a:avLst>
          </a:prstGeom>
          <a:solidFill>
            <a:srgbClr val="FFFEFA"/>
          </a:solidFill>
          <a:ln w="12700">
            <a:solidFill>
              <a:srgbClr val="DFE5E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67544" y="2377440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329"/>
                </a:solidFill>
              </a:rPr>
              <a:t>6  Export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85800" y="3657600"/>
            <a:ext cx="5303520" cy="1280160"/>
          </a:xfrm>
          <a:prstGeom prst="roundRect">
            <a:avLst>
              <a:gd name="adj" fmla="val 5714"/>
            </a:avLst>
          </a:prstGeom>
          <a:solidFill>
            <a:srgbClr val="FFFEFA"/>
          </a:solidFill>
          <a:ln w="12700">
            <a:solidFill>
              <a:srgbClr val="DFE5E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5800" y="3657600"/>
            <a:ext cx="64008" cy="1280160"/>
          </a:xfrm>
          <a:prstGeom prst="rect">
            <a:avLst/>
          </a:prstGeom>
          <a:solidFill>
            <a:srgbClr val="146C5C"/>
          </a:solidFill>
          <a:ln w="12700">
            <a:solidFill>
              <a:srgbClr val="146C5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86968" y="384048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329"/>
                </a:solidFill>
              </a:rPr>
              <a:t>Two demo entry points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86968" y="4160520"/>
            <a:ext cx="4919472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37078"/>
                </a:solidFill>
              </a:rPr>
              <a:t>Explore a completed RFx for immediate value, or create a new RFx through a conversational co-pilot.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217920" y="3657600"/>
            <a:ext cx="5303520" cy="1280160"/>
          </a:xfrm>
          <a:prstGeom prst="roundRect">
            <a:avLst>
              <a:gd name="adj" fmla="val 5714"/>
            </a:avLst>
          </a:prstGeom>
          <a:solidFill>
            <a:srgbClr val="FFFEFA"/>
          </a:solidFill>
          <a:ln w="12700">
            <a:solidFill>
              <a:srgbClr val="DFE5E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217920" y="3657600"/>
            <a:ext cx="64008" cy="1280160"/>
          </a:xfrm>
          <a:prstGeom prst="rect">
            <a:avLst/>
          </a:prstGeom>
          <a:solidFill>
            <a:srgbClr val="146C5C"/>
          </a:solidFill>
          <a:ln w="12700">
            <a:solidFill>
              <a:srgbClr val="146C5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19088" y="384048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329"/>
                </a:solidFill>
              </a:rPr>
              <a:t>One universal workspace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419088" y="4160520"/>
            <a:ext cx="4919472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37078"/>
                </a:solidFill>
              </a:rPr>
              <a:t>Comparison is the default view; Overview and Recommendation provide context and decision support.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66928" y="6510528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37078"/>
                </a:solidFill>
              </a:rPr>
              <a:t>03  |  Aerchain product take-home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29768"/>
            <a:ext cx="11155680" cy="0"/>
          </a:xfrm>
          <a:prstGeom prst="line">
            <a:avLst/>
          </a:prstGeom>
          <a:noFill/>
          <a:ln w="12700">
            <a:solidFill>
              <a:srgbClr val="DFE5E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164592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46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RFX PILOT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66928" y="66751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232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RFx creation: conversation becomes structure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85216" y="1225296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370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user starts with intent; the system asks only for what is missing.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1737360"/>
            <a:ext cx="5120640" cy="4069080"/>
          </a:xfrm>
          <a:prstGeom prst="roundRect">
            <a:avLst>
              <a:gd name="adj" fmla="val 1798"/>
            </a:avLst>
          </a:prstGeom>
          <a:solidFill>
            <a:srgbClr val="FFFEFA"/>
          </a:solidFill>
          <a:ln w="12700">
            <a:solidFill>
              <a:srgbClr val="DFE5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965960"/>
            <a:ext cx="18288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6C5C"/>
                </a:solidFill>
              </a:rPr>
              <a:t>RFx co-pilot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2468880"/>
            <a:ext cx="9144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2329"/>
                </a:solidFill>
              </a:rPr>
              <a:t>Buyer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14400" y="2679192"/>
            <a:ext cx="4297680" cy="411480"/>
          </a:xfrm>
          <a:prstGeom prst="rect">
            <a:avLst/>
          </a:prstGeom>
          <a:solidFill>
            <a:srgbClr val="F7F8F5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2329"/>
                </a:solidFill>
              </a:rPr>
              <a:t>We need annual corrugated packaging for our Bengaluru plant.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3401568"/>
            <a:ext cx="9144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6C5C"/>
                </a:solidFill>
              </a:rPr>
              <a:t>Co-pilot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14400" y="3611880"/>
            <a:ext cx="4297680" cy="411480"/>
          </a:xfrm>
          <a:prstGeom prst="rect">
            <a:avLst/>
          </a:prstGeom>
          <a:solidFill>
            <a:srgbClr val="E2F0EE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2329"/>
                </a:solidFill>
              </a:rPr>
              <a:t>What demand estimate and qualification requirements apply?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4334256"/>
            <a:ext cx="9144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2329"/>
                </a:solidFill>
              </a:rPr>
              <a:t>Buyer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14400" y="4544568"/>
            <a:ext cx="4297680" cy="411480"/>
          </a:xfrm>
          <a:prstGeom prst="rect">
            <a:avLst/>
          </a:prstGeom>
          <a:solidFill>
            <a:srgbClr val="F7F8F5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2329"/>
                </a:solidFill>
              </a:rPr>
              <a:t>Use annual demand. Quality certification and capacity are mandatory.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46520" y="1828800"/>
            <a:ext cx="4892040" cy="960120"/>
          </a:xfrm>
          <a:prstGeom prst="roundRect">
            <a:avLst>
              <a:gd name="adj" fmla="val 7619"/>
            </a:avLst>
          </a:prstGeom>
          <a:solidFill>
            <a:srgbClr val="FFFEFA"/>
          </a:solidFill>
          <a:ln w="12700">
            <a:solidFill>
              <a:srgbClr val="DFE5E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46520" y="1828800"/>
            <a:ext cx="64008" cy="960120"/>
          </a:xfrm>
          <a:prstGeom prst="rect">
            <a:avLst/>
          </a:prstGeom>
          <a:solidFill>
            <a:srgbClr val="146C5C"/>
          </a:solidFill>
          <a:ln w="12700">
            <a:solidFill>
              <a:srgbClr val="146C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47688" y="2011680"/>
            <a:ext cx="4526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329"/>
                </a:solidFill>
              </a:rPr>
              <a:t>Inputs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647688" y="2331720"/>
            <a:ext cx="4507992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37078"/>
                </a:solidFill>
              </a:rPr>
              <a:t>Natural language + image and spreadsheet uploads.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446520" y="2971800"/>
            <a:ext cx="4892040" cy="960120"/>
          </a:xfrm>
          <a:prstGeom prst="roundRect">
            <a:avLst>
              <a:gd name="adj" fmla="val 7619"/>
            </a:avLst>
          </a:prstGeom>
          <a:solidFill>
            <a:srgbClr val="FFFEFA"/>
          </a:solidFill>
          <a:ln w="12700">
            <a:solidFill>
              <a:srgbClr val="DFE5E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46520" y="2971800"/>
            <a:ext cx="64008" cy="960120"/>
          </a:xfrm>
          <a:prstGeom prst="rect">
            <a:avLst/>
          </a:prstGeom>
          <a:solidFill>
            <a:srgbClr val="B76A24"/>
          </a:solidFill>
          <a:ln w="12700">
            <a:solidFill>
              <a:srgbClr val="B76A2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47688" y="3154680"/>
            <a:ext cx="4526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329"/>
                </a:solidFill>
              </a:rPr>
              <a:t>Conflict handling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647688" y="3474720"/>
            <a:ext cx="4507992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37078"/>
                </a:solidFill>
              </a:rPr>
              <a:t>Chat/file conflicts require explicit resolution; nothing is silently overwritten.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446520" y="4114800"/>
            <a:ext cx="4892040" cy="960120"/>
          </a:xfrm>
          <a:prstGeom prst="roundRect">
            <a:avLst>
              <a:gd name="adj" fmla="val 7619"/>
            </a:avLst>
          </a:prstGeom>
          <a:solidFill>
            <a:srgbClr val="FFFEFA"/>
          </a:solidFill>
          <a:ln w="12700">
            <a:solidFill>
              <a:srgbClr val="DFE5E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46520" y="4114800"/>
            <a:ext cx="64008" cy="960120"/>
          </a:xfrm>
          <a:prstGeom prst="rect">
            <a:avLst/>
          </a:prstGeom>
          <a:solidFill>
            <a:srgbClr val="146C5C"/>
          </a:solidFill>
          <a:ln w="12700">
            <a:solidFill>
              <a:srgbClr val="146C5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47688" y="4297680"/>
            <a:ext cx="4526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329"/>
                </a:solidFill>
              </a:rPr>
              <a:t>Live RFx draft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647688" y="4617720"/>
            <a:ext cx="4507992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37078"/>
                </a:solidFill>
              </a:rPr>
              <a:t>Scope, line items, questionnaire, weights, and terms update alongside the conversation.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66928" y="6510528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37078"/>
                </a:solidFill>
              </a:rPr>
              <a:t>04  |  Aerchain product take-home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29768"/>
            <a:ext cx="11155680" cy="0"/>
          </a:xfrm>
          <a:prstGeom prst="line">
            <a:avLst/>
          </a:prstGeom>
          <a:noFill/>
          <a:ln w="12700">
            <a:solidFill>
              <a:srgbClr val="DFE5E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164592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46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RFX PILOT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66928" y="66751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232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Vendor experience: no template, no login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85216" y="1225296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370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secure response link accepts the vendor’s real-world way of working.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85800" y="1828800"/>
            <a:ext cx="3383280" cy="2377440"/>
          </a:xfrm>
          <a:prstGeom prst="roundRect">
            <a:avLst>
              <a:gd name="adj" fmla="val 3077"/>
            </a:avLst>
          </a:prstGeom>
          <a:solidFill>
            <a:srgbClr val="FFFEFA"/>
          </a:solidFill>
          <a:ln w="12700">
            <a:solidFill>
              <a:srgbClr val="DFE5E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828800"/>
            <a:ext cx="64008" cy="2377440"/>
          </a:xfrm>
          <a:prstGeom prst="rect">
            <a:avLst/>
          </a:prstGeom>
          <a:solidFill>
            <a:srgbClr val="146C5C"/>
          </a:solidFill>
          <a:ln w="12700">
            <a:solidFill>
              <a:srgbClr val="146C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6968" y="201168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329"/>
                </a:solidFill>
              </a:rPr>
              <a:t>Upload anything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86968" y="2331720"/>
            <a:ext cx="2999232" cy="1755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37078"/>
                </a:solidFill>
              </a:rPr>
              <a:t>XLSX, XLS, CSV, PDF, DOCX, PNG/JPG plus free text.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89120" y="1828800"/>
            <a:ext cx="3383280" cy="2377440"/>
          </a:xfrm>
          <a:prstGeom prst="roundRect">
            <a:avLst>
              <a:gd name="adj" fmla="val 3077"/>
            </a:avLst>
          </a:prstGeom>
          <a:solidFill>
            <a:srgbClr val="FFFEFA"/>
          </a:solidFill>
          <a:ln w="12700">
            <a:solidFill>
              <a:srgbClr val="DFE5E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89120" y="1828800"/>
            <a:ext cx="64008" cy="2377440"/>
          </a:xfrm>
          <a:prstGeom prst="rect">
            <a:avLst/>
          </a:prstGeom>
          <a:solidFill>
            <a:srgbClr val="146C5C"/>
          </a:solidFill>
          <a:ln w="12700">
            <a:solidFill>
              <a:srgbClr val="146C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90288" y="201168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329"/>
                </a:solidFill>
              </a:rPr>
              <a:t>Keep context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90288" y="2331720"/>
            <a:ext cx="2999232" cy="1755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37078"/>
                </a:solidFill>
              </a:rPr>
              <a:t>Files and message text are processed as one response bundle.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092440" y="1828800"/>
            <a:ext cx="3383280" cy="2377440"/>
          </a:xfrm>
          <a:prstGeom prst="roundRect">
            <a:avLst>
              <a:gd name="adj" fmla="val 3077"/>
            </a:avLst>
          </a:prstGeom>
          <a:solidFill>
            <a:srgbClr val="FFFEFA"/>
          </a:solidFill>
          <a:ln w="12700">
            <a:solidFill>
              <a:srgbClr val="DFE5E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92440" y="1828800"/>
            <a:ext cx="64008" cy="2377440"/>
          </a:xfrm>
          <a:prstGeom prst="rect">
            <a:avLst/>
          </a:prstGeom>
          <a:solidFill>
            <a:srgbClr val="B76A24"/>
          </a:solidFill>
          <a:ln w="12700">
            <a:solidFill>
              <a:srgbClr val="B76A2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93608" y="201168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329"/>
                </a:solidFill>
              </a:rPr>
              <a:t>Handle late bids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93608" y="2331720"/>
            <a:ext cx="2999232" cy="1755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37078"/>
                </a:solidFill>
              </a:rPr>
              <a:t>Accept and label late submissions; the buyer controls inclusion.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914400" y="489204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1723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Example: “₹42/kg for 5-ply, ₹38 for 3-ply, rest same as last year, freight extra.”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566928" y="6510528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37078"/>
                </a:solidFill>
              </a:rPr>
              <a:t>05  |  Aerchain product take-home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29768"/>
            <a:ext cx="11155680" cy="0"/>
          </a:xfrm>
          <a:prstGeom prst="line">
            <a:avLst/>
          </a:prstGeom>
          <a:noFill/>
          <a:ln w="12700">
            <a:solidFill>
              <a:srgbClr val="DFE5E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164592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46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RFX PILOT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66928" y="66751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232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Test dataset: engineered for the ugly edges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85216" y="1225296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370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Five vendors, 30 line items, and response types that expose real procurement risk.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13232" y="178308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7078"/>
                </a:solidFill>
              </a:rPr>
              <a:t>Vendor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017520" y="178308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7078"/>
                </a:solidFill>
              </a:rPr>
              <a:t>Response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623560" y="1783080"/>
            <a:ext cx="457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7078"/>
                </a:solidFill>
              </a:rPr>
              <a:t>Purpose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58368" y="2084832"/>
            <a:ext cx="10881360" cy="521208"/>
          </a:xfrm>
          <a:prstGeom prst="rect">
            <a:avLst/>
          </a:prstGeom>
          <a:solidFill>
            <a:srgbClr val="FFFEFA"/>
          </a:solidFill>
          <a:ln w="6350">
            <a:solidFill>
              <a:srgbClr val="DFE5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240280"/>
            <a:ext cx="201168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329"/>
                </a:solidFill>
              </a:rPr>
              <a:t>Apex Cartons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017520" y="2240280"/>
            <a:ext cx="233172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6C5C"/>
                </a:solidFill>
              </a:rPr>
              <a:t>XLSX + DOCX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623560" y="2240280"/>
            <a:ext cx="530352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37078"/>
                </a:solidFill>
              </a:rPr>
              <a:t>30 lines · INR · clean structured quote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58368" y="2743200"/>
            <a:ext cx="10881360" cy="521208"/>
          </a:xfrm>
          <a:prstGeom prst="rect">
            <a:avLst/>
          </a:prstGeom>
          <a:solidFill>
            <a:srgbClr val="FFFEFA"/>
          </a:solidFill>
          <a:ln w="6350">
            <a:solidFill>
              <a:srgbClr val="DFE5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2898648"/>
            <a:ext cx="201168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329"/>
                </a:solidFill>
              </a:rPr>
              <a:t>Bharat Packaging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017520" y="2898648"/>
            <a:ext cx="233172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6C5C"/>
                </a:solidFill>
              </a:rPr>
              <a:t>PDF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623560" y="2898648"/>
            <a:ext cx="530352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37078"/>
                </a:solidFill>
              </a:rPr>
              <a:t>27 lines · per-100 pricing · partial coverage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58368" y="3401568"/>
            <a:ext cx="10881360" cy="521208"/>
          </a:xfrm>
          <a:prstGeom prst="rect">
            <a:avLst/>
          </a:prstGeom>
          <a:solidFill>
            <a:srgbClr val="FFFEFA"/>
          </a:solidFill>
          <a:ln w="6350">
            <a:solidFill>
              <a:srgbClr val="DFE5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3557016"/>
            <a:ext cx="201168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329"/>
                </a:solidFill>
              </a:rPr>
              <a:t>SwiftBox Solutions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017520" y="3557016"/>
            <a:ext cx="233172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6C5C"/>
                </a:solidFill>
              </a:rPr>
              <a:t>Phone photo + text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623560" y="3557016"/>
            <a:ext cx="530352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37078"/>
                </a:solidFill>
              </a:rPr>
              <a:t>per-kg pricing · OCR uncertainty · freight extra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58368" y="4059936"/>
            <a:ext cx="10881360" cy="521208"/>
          </a:xfrm>
          <a:prstGeom prst="rect">
            <a:avLst/>
          </a:prstGeom>
          <a:solidFill>
            <a:srgbClr val="FFFEFA"/>
          </a:solidFill>
          <a:ln w="6350">
            <a:solidFill>
              <a:srgbClr val="DFE5E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4215384"/>
            <a:ext cx="201168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329"/>
                </a:solidFill>
              </a:rPr>
              <a:t>GlobalPak Imports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017520" y="4215384"/>
            <a:ext cx="233172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6C5C"/>
                </a:solidFill>
              </a:rPr>
              <a:t>XLS + CSV + PDF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623560" y="4215384"/>
            <a:ext cx="530352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37078"/>
                </a:solidFill>
              </a:rPr>
              <a:t>USD quote · historic FX rate · bundle context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58368" y="4718304"/>
            <a:ext cx="10881360" cy="521208"/>
          </a:xfrm>
          <a:prstGeom prst="rect">
            <a:avLst/>
          </a:prstGeom>
          <a:solidFill>
            <a:srgbClr val="F2F1EF"/>
          </a:solidFill>
          <a:ln w="6350">
            <a:solidFill>
              <a:srgbClr val="DFE5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" y="4873752"/>
            <a:ext cx="201168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329"/>
                </a:solidFill>
              </a:rPr>
              <a:t>ValueCorr Industries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017520" y="4873752"/>
            <a:ext cx="233172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6C5C"/>
                </a:solidFill>
              </a:rPr>
              <a:t>DOCX + PNG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623560" y="4873752"/>
            <a:ext cx="530352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37078"/>
                </a:solidFill>
              </a:rPr>
              <a:t>lowest headline cost · fails capacity gate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66928" y="6510528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37078"/>
                </a:solidFill>
              </a:rPr>
              <a:t>06  |  Aerchain product take-home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29768"/>
            <a:ext cx="11155680" cy="0"/>
          </a:xfrm>
          <a:prstGeom prst="line">
            <a:avLst/>
          </a:prstGeom>
          <a:noFill/>
          <a:ln w="12700">
            <a:solidFill>
              <a:srgbClr val="DFE5E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164592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46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RFX PILOT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66928" y="66751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232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Trust model: visible uncertainty, safe decisions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85216" y="1225296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370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system distinguishes what it knows from what it cannot safely infer.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85800" y="1828800"/>
            <a:ext cx="3383280" cy="2240280"/>
          </a:xfrm>
          <a:prstGeom prst="roundRect">
            <a:avLst>
              <a:gd name="adj" fmla="val 3265"/>
            </a:avLst>
          </a:prstGeom>
          <a:solidFill>
            <a:srgbClr val="FFFEFA"/>
          </a:solidFill>
          <a:ln w="12700">
            <a:solidFill>
              <a:srgbClr val="DFE5E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828800"/>
            <a:ext cx="64008" cy="2240280"/>
          </a:xfrm>
          <a:prstGeom prst="rect">
            <a:avLst/>
          </a:prstGeom>
          <a:solidFill>
            <a:srgbClr val="146C5C"/>
          </a:solidFill>
          <a:ln w="12700">
            <a:solidFill>
              <a:srgbClr val="146C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6968" y="201168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329"/>
                </a:solidFill>
              </a:rPr>
              <a:t>Confirmed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86968" y="2331720"/>
            <a:ext cx="2999232" cy="1618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37078"/>
                </a:solidFill>
              </a:rPr>
              <a:t>Mapped, normalized, and eligible values can enter totals, rankings, chat, and recommendations.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89120" y="1828800"/>
            <a:ext cx="3383280" cy="2240280"/>
          </a:xfrm>
          <a:prstGeom prst="roundRect">
            <a:avLst>
              <a:gd name="adj" fmla="val 3265"/>
            </a:avLst>
          </a:prstGeom>
          <a:solidFill>
            <a:srgbClr val="FFFEFA"/>
          </a:solidFill>
          <a:ln w="12700">
            <a:solidFill>
              <a:srgbClr val="DFE5E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89120" y="1828800"/>
            <a:ext cx="64008" cy="2240280"/>
          </a:xfrm>
          <a:prstGeom prst="rect">
            <a:avLst/>
          </a:prstGeom>
          <a:solidFill>
            <a:srgbClr val="B76A24"/>
          </a:solidFill>
          <a:ln w="12700">
            <a:solidFill>
              <a:srgbClr val="B76A2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90288" y="201168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329"/>
                </a:solidFill>
              </a:rPr>
              <a:t>Needs review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90288" y="2331720"/>
            <a:ext cx="2999232" cy="1618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37078"/>
                </a:solidFill>
              </a:rPr>
              <a:t>Low-confidence OCR, missing units, and unsafe conversions remain visible but are excluded.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092440" y="1828800"/>
            <a:ext cx="3383280" cy="2240280"/>
          </a:xfrm>
          <a:prstGeom prst="roundRect">
            <a:avLst>
              <a:gd name="adj" fmla="val 3265"/>
            </a:avLst>
          </a:prstGeom>
          <a:solidFill>
            <a:srgbClr val="FFFEFA"/>
          </a:solidFill>
          <a:ln w="12700">
            <a:solidFill>
              <a:srgbClr val="DFE5E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92440" y="1828800"/>
            <a:ext cx="64008" cy="2240280"/>
          </a:xfrm>
          <a:prstGeom prst="rect">
            <a:avLst/>
          </a:prstGeom>
          <a:solidFill>
            <a:srgbClr val="A24841"/>
          </a:solidFill>
          <a:ln w="12700">
            <a:solidFill>
              <a:srgbClr val="A2484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93608" y="201168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329"/>
                </a:solidFill>
              </a:rPr>
              <a:t>Ineligible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93608" y="2331720"/>
            <a:ext cx="2999232" cy="1618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37078"/>
                </a:solidFill>
              </a:rPr>
              <a:t>Failed suppliers are greyed out, preserved for audit, and excluded from controls.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143000" y="489204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2329"/>
                </a:solidFill>
              </a:rPr>
              <a:t>GST-inclusive landed cost = item value + freight/charges + applicable GST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566928" y="6510528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37078"/>
                </a:solidFill>
              </a:rPr>
              <a:t>07  |  Aerchain product take-home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29768"/>
            <a:ext cx="11155680" cy="0"/>
          </a:xfrm>
          <a:prstGeom prst="line">
            <a:avLst/>
          </a:prstGeom>
          <a:noFill/>
          <a:ln w="12700">
            <a:solidFill>
              <a:srgbClr val="DFE5E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164592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46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RFX PILOT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66928" y="66751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232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Decision workspace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85216" y="1225296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370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Side-by-side comparison makes the selection logic explicit.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1719072"/>
            <a:ext cx="219456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6C5C"/>
                </a:solidFill>
              </a:rPr>
              <a:t>Comparison (default)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154680" y="1719072"/>
            <a:ext cx="118872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37078"/>
                </a:solidFill>
              </a:rPr>
              <a:t>Overview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0" y="1719072"/>
            <a:ext cx="164592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37078"/>
                </a:solidFill>
              </a:rPr>
              <a:t>Recommendation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2176272"/>
            <a:ext cx="150876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329"/>
                </a:solidFill>
              </a:rPr>
              <a:t>Line item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514600" y="2176272"/>
            <a:ext cx="150876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329"/>
                </a:solidFill>
              </a:rPr>
              <a:t>Apex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251960" y="2176272"/>
            <a:ext cx="150876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329"/>
                </a:solidFill>
              </a:rPr>
              <a:t>Bharat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89320" y="2176272"/>
            <a:ext cx="150876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329"/>
                </a:solidFill>
              </a:rPr>
              <a:t>SwiftBox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726680" y="2176272"/>
            <a:ext cx="150876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329"/>
                </a:solidFill>
              </a:rPr>
              <a:t>GlobalPak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464040" y="2176272"/>
            <a:ext cx="150876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329"/>
                </a:solidFill>
              </a:rPr>
              <a:t>ValueCorr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85800" y="2514600"/>
            <a:ext cx="10789920" cy="411480"/>
          </a:xfrm>
          <a:prstGeom prst="rect">
            <a:avLst/>
          </a:prstGeom>
          <a:solidFill>
            <a:srgbClr val="FFFEFA"/>
          </a:solidFill>
          <a:ln w="5080">
            <a:solidFill>
              <a:srgbClr val="DFE5E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" y="2642616"/>
            <a:ext cx="128016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SKU-001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514600" y="2642616"/>
            <a:ext cx="118872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2329"/>
                </a:solidFill>
              </a:rPr>
              <a:t>₹6.26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251960" y="2642616"/>
            <a:ext cx="118872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2329"/>
                </a:solidFill>
              </a:rPr>
              <a:t>₹5.86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989320" y="2642616"/>
            <a:ext cx="118872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76A24"/>
                </a:solidFill>
              </a:rPr>
              <a:t>review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726680" y="2642616"/>
            <a:ext cx="118872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2329"/>
                </a:solidFill>
              </a:rPr>
              <a:t>$0.065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9464040" y="2642616"/>
            <a:ext cx="118872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37078"/>
                </a:solidFill>
              </a:rPr>
              <a:t>₹5.10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85800" y="3017520"/>
            <a:ext cx="10789920" cy="411480"/>
          </a:xfrm>
          <a:prstGeom prst="rect">
            <a:avLst/>
          </a:prstGeom>
          <a:solidFill>
            <a:srgbClr val="FBFCFA"/>
          </a:solidFill>
          <a:ln w="5080">
            <a:solidFill>
              <a:srgbClr val="DFE5E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1248" y="3145536"/>
            <a:ext cx="128016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SKU-002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514600" y="3145536"/>
            <a:ext cx="118872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2329"/>
                </a:solidFill>
              </a:rPr>
              <a:t>₹6.26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251960" y="3145536"/>
            <a:ext cx="118872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2329"/>
                </a:solidFill>
              </a:rPr>
              <a:t>₹5.86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989320" y="3145536"/>
            <a:ext cx="118872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76A24"/>
                </a:solidFill>
              </a:rPr>
              <a:t>review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726680" y="3145536"/>
            <a:ext cx="118872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2329"/>
                </a:solidFill>
              </a:rPr>
              <a:t>$0.065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9464040" y="3145536"/>
            <a:ext cx="118872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37078"/>
                </a:solidFill>
              </a:rPr>
              <a:t>₹5.10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85800" y="3520440"/>
            <a:ext cx="10789920" cy="411480"/>
          </a:xfrm>
          <a:prstGeom prst="rect">
            <a:avLst/>
          </a:prstGeom>
          <a:solidFill>
            <a:srgbClr val="FFFEFA"/>
          </a:solidFill>
          <a:ln w="5080">
            <a:solidFill>
              <a:srgbClr val="DFE5E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41248" y="3648456"/>
            <a:ext cx="128016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SKU-003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514600" y="3648456"/>
            <a:ext cx="118872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2329"/>
                </a:solidFill>
              </a:rPr>
              <a:t>₹6.26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251960" y="3648456"/>
            <a:ext cx="118872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2329"/>
                </a:solidFill>
              </a:rPr>
              <a:t>₹5.86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989320" y="3648456"/>
            <a:ext cx="118872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76A24"/>
                </a:solidFill>
              </a:rPr>
              <a:t>review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726680" y="3648456"/>
            <a:ext cx="118872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2329"/>
                </a:solidFill>
              </a:rPr>
              <a:t>$0.065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9464040" y="3648456"/>
            <a:ext cx="118872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37078"/>
                </a:solidFill>
              </a:rPr>
              <a:t>₹5.10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85800" y="4023360"/>
            <a:ext cx="10789920" cy="411480"/>
          </a:xfrm>
          <a:prstGeom prst="rect">
            <a:avLst/>
          </a:prstGeom>
          <a:solidFill>
            <a:srgbClr val="FBFCFA"/>
          </a:solidFill>
          <a:ln w="5080">
            <a:solidFill>
              <a:srgbClr val="DFE5E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41248" y="4151376"/>
            <a:ext cx="128016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SKU-004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514600" y="4151376"/>
            <a:ext cx="118872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2329"/>
                </a:solidFill>
              </a:rPr>
              <a:t>₹6.26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251960" y="4151376"/>
            <a:ext cx="118872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2329"/>
                </a:solidFill>
              </a:rPr>
              <a:t>₹5.86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989320" y="4151376"/>
            <a:ext cx="118872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76A24"/>
                </a:solidFill>
              </a:rPr>
              <a:t>review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726680" y="4151376"/>
            <a:ext cx="118872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2329"/>
                </a:solidFill>
              </a:rPr>
              <a:t>$0.065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9464040" y="4151376"/>
            <a:ext cx="118872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37078"/>
                </a:solidFill>
              </a:rPr>
              <a:t>₹5.10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85800" y="4526280"/>
            <a:ext cx="10789920" cy="411480"/>
          </a:xfrm>
          <a:prstGeom prst="rect">
            <a:avLst/>
          </a:prstGeom>
          <a:solidFill>
            <a:srgbClr val="FFFEFA"/>
          </a:solidFill>
          <a:ln w="5080">
            <a:solidFill>
              <a:srgbClr val="DFE5E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41248" y="4654296"/>
            <a:ext cx="128016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SKU-005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2514600" y="4654296"/>
            <a:ext cx="118872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2329"/>
                </a:solidFill>
              </a:rPr>
              <a:t>₹6.26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251960" y="4654296"/>
            <a:ext cx="118872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2329"/>
                </a:solidFill>
              </a:rPr>
              <a:t>₹5.86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989320" y="4654296"/>
            <a:ext cx="118872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76A24"/>
                </a:solidFill>
              </a:rPr>
              <a:t>review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7726680" y="4654296"/>
            <a:ext cx="118872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2329"/>
                </a:solidFill>
              </a:rPr>
              <a:t>$0.065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9464040" y="4654296"/>
            <a:ext cx="118872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37078"/>
                </a:solidFill>
              </a:rPr>
              <a:t>₹5.10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914400" y="5349240"/>
            <a:ext cx="1024128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37078"/>
                </a:solidFill>
              </a:rPr>
              <a:t>Buyer can select individual lines or select all eligible lines for a vendor; changes update allocation total immediately.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566928" y="6510528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37078"/>
                </a:solidFill>
              </a:rPr>
              <a:t>08  |  Aerchain product take-home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29768"/>
            <a:ext cx="11155680" cy="0"/>
          </a:xfrm>
          <a:prstGeom prst="line">
            <a:avLst/>
          </a:prstGeom>
          <a:noFill/>
          <a:ln w="12700">
            <a:solidFill>
              <a:srgbClr val="DFE5E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164592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46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RFX PILOT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66928" y="66751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232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Recommendation, chat, and exports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85216" y="1225296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370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Opinionated analysis without autonomous action.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85800" y="1828800"/>
            <a:ext cx="3383280" cy="2560320"/>
          </a:xfrm>
          <a:prstGeom prst="roundRect">
            <a:avLst>
              <a:gd name="adj" fmla="val 2857"/>
            </a:avLst>
          </a:prstGeom>
          <a:solidFill>
            <a:srgbClr val="FFFEFA"/>
          </a:solidFill>
          <a:ln w="12700">
            <a:solidFill>
              <a:srgbClr val="DFE5E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828800"/>
            <a:ext cx="64008" cy="2560320"/>
          </a:xfrm>
          <a:prstGeom prst="rect">
            <a:avLst/>
          </a:prstGeom>
          <a:solidFill>
            <a:srgbClr val="146C5C"/>
          </a:solidFill>
          <a:ln w="12700">
            <a:solidFill>
              <a:srgbClr val="146C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6968" y="201168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329"/>
                </a:solidFill>
              </a:rPr>
              <a:t>Proposed allocation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86968" y="2331720"/>
            <a:ext cx="2999232" cy="1938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37078"/>
                </a:solidFill>
              </a:rPr>
              <a:t>A split award defaults to Apex + GlobalPak, with vendor-level freight counted once.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89120" y="1828800"/>
            <a:ext cx="3383280" cy="2560320"/>
          </a:xfrm>
          <a:prstGeom prst="roundRect">
            <a:avLst>
              <a:gd name="adj" fmla="val 2857"/>
            </a:avLst>
          </a:prstGeom>
          <a:solidFill>
            <a:srgbClr val="FFFEFA"/>
          </a:solidFill>
          <a:ln w="12700">
            <a:solidFill>
              <a:srgbClr val="DFE5E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89120" y="1828800"/>
            <a:ext cx="64008" cy="2560320"/>
          </a:xfrm>
          <a:prstGeom prst="rect">
            <a:avLst/>
          </a:prstGeom>
          <a:solidFill>
            <a:srgbClr val="146C5C"/>
          </a:solidFill>
          <a:ln w="12700">
            <a:solidFill>
              <a:srgbClr val="146C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90288" y="201168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329"/>
                </a:solidFill>
              </a:rPr>
              <a:t>Universal chat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90288" y="2331720"/>
            <a:ext cx="2999232" cy="1938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37078"/>
                </a:solidFill>
              </a:rPr>
              <a:t>Available across all tabs. It analyzes eligible, confirmed data and names material limitations.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092440" y="1828800"/>
            <a:ext cx="3383280" cy="2560320"/>
          </a:xfrm>
          <a:prstGeom prst="roundRect">
            <a:avLst>
              <a:gd name="adj" fmla="val 2857"/>
            </a:avLst>
          </a:prstGeom>
          <a:solidFill>
            <a:srgbClr val="FFFEFA"/>
          </a:solidFill>
          <a:ln w="12700">
            <a:solidFill>
              <a:srgbClr val="DFE5E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92440" y="1828800"/>
            <a:ext cx="64008" cy="2560320"/>
          </a:xfrm>
          <a:prstGeom prst="rect">
            <a:avLst/>
          </a:prstGeom>
          <a:solidFill>
            <a:srgbClr val="146C5C"/>
          </a:solidFill>
          <a:ln w="12700">
            <a:solidFill>
              <a:srgbClr val="146C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93608" y="201168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329"/>
                </a:solidFill>
              </a:rPr>
              <a:t>Decision package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93608" y="2331720"/>
            <a:ext cx="2999232" cy="1938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37078"/>
                </a:solidFill>
              </a:rPr>
              <a:t>CSV exports the allocation; PDF summarizes cost, eligibility, risks, and recommendation.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005840" y="5120640"/>
            <a:ext cx="1014984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46C5C"/>
                </a:solidFill>
              </a:rPr>
              <a:t>Chat can explain a change. Only the buyer can make a change.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566928" y="6510528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37078"/>
                </a:solidFill>
              </a:rPr>
              <a:t>09  |  Aerchain product take-home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29768"/>
            <a:ext cx="11155680" cy="0"/>
          </a:xfrm>
          <a:prstGeom prst="line">
            <a:avLst/>
          </a:prstGeom>
          <a:noFill/>
          <a:ln w="12700">
            <a:solidFill>
              <a:srgbClr val="DFE5E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164592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46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RFX PILOT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66928" y="66751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232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Technical architecture &amp; live deployment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85216" y="1225296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370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practical prototype with real AI loops and a production-ready delivery path.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85800" y="1828800"/>
            <a:ext cx="5074920" cy="1188720"/>
          </a:xfrm>
          <a:prstGeom prst="roundRect">
            <a:avLst>
              <a:gd name="adj" fmla="val 6154"/>
            </a:avLst>
          </a:prstGeom>
          <a:solidFill>
            <a:srgbClr val="FFFEFA"/>
          </a:solidFill>
          <a:ln w="12700">
            <a:solidFill>
              <a:srgbClr val="DFE5E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828800"/>
            <a:ext cx="64008" cy="1188720"/>
          </a:xfrm>
          <a:prstGeom prst="rect">
            <a:avLst/>
          </a:prstGeom>
          <a:solidFill>
            <a:srgbClr val="146C5C"/>
          </a:solidFill>
          <a:ln w="12700">
            <a:solidFill>
              <a:srgbClr val="146C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6968" y="2011680"/>
            <a:ext cx="4709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329"/>
                </a:solidFill>
              </a:rPr>
              <a:t>Next.js + Vercel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86968" y="2331720"/>
            <a:ext cx="4690872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37078"/>
                </a:solidFill>
              </a:rPr>
              <a:t>Guided UI, API routes, deployment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217920" y="1828800"/>
            <a:ext cx="5074920" cy="1188720"/>
          </a:xfrm>
          <a:prstGeom prst="roundRect">
            <a:avLst>
              <a:gd name="adj" fmla="val 6154"/>
            </a:avLst>
          </a:prstGeom>
          <a:solidFill>
            <a:srgbClr val="FFFEFA"/>
          </a:solidFill>
          <a:ln w="12700">
            <a:solidFill>
              <a:srgbClr val="DFE5E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17920" y="1828800"/>
            <a:ext cx="64008" cy="1188720"/>
          </a:xfrm>
          <a:prstGeom prst="rect">
            <a:avLst/>
          </a:prstGeom>
          <a:solidFill>
            <a:srgbClr val="B76A24"/>
          </a:solidFill>
          <a:ln w="12700">
            <a:solidFill>
              <a:srgbClr val="B76A2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19088" y="2011680"/>
            <a:ext cx="4709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329"/>
                </a:solidFill>
              </a:rPr>
              <a:t>Gemini 2.5 Flash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19088" y="2331720"/>
            <a:ext cx="4690872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37078"/>
                </a:solidFill>
              </a:rPr>
              <a:t>Multimodal extraction and RFx-scoped analysis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85800" y="3337560"/>
            <a:ext cx="5074920" cy="1188720"/>
          </a:xfrm>
          <a:prstGeom prst="roundRect">
            <a:avLst>
              <a:gd name="adj" fmla="val 6154"/>
            </a:avLst>
          </a:prstGeom>
          <a:solidFill>
            <a:srgbClr val="FFFEFA"/>
          </a:solidFill>
          <a:ln w="12700">
            <a:solidFill>
              <a:srgbClr val="DFE5E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" y="3337560"/>
            <a:ext cx="64008" cy="1188720"/>
          </a:xfrm>
          <a:prstGeom prst="rect">
            <a:avLst/>
          </a:prstGeom>
          <a:solidFill>
            <a:srgbClr val="146C5C"/>
          </a:solidFill>
          <a:ln w="12700">
            <a:solidFill>
              <a:srgbClr val="146C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86968" y="3520440"/>
            <a:ext cx="4709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329"/>
                </a:solidFill>
              </a:rPr>
              <a:t>Fixture pipeline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86968" y="3840480"/>
            <a:ext cx="4690872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37078"/>
                </a:solidFill>
              </a:rPr>
              <a:t>XLSX, CSV, text, and raster-rate-card inputs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217920" y="3337560"/>
            <a:ext cx="5074920" cy="1188720"/>
          </a:xfrm>
          <a:prstGeom prst="roundRect">
            <a:avLst>
              <a:gd name="adj" fmla="val 6154"/>
            </a:avLst>
          </a:prstGeom>
          <a:solidFill>
            <a:srgbClr val="FFFEFA"/>
          </a:solidFill>
          <a:ln w="12700">
            <a:solidFill>
              <a:srgbClr val="DFE5E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17920" y="3337560"/>
            <a:ext cx="64008" cy="1188720"/>
          </a:xfrm>
          <a:prstGeom prst="rect">
            <a:avLst/>
          </a:prstGeom>
          <a:solidFill>
            <a:srgbClr val="146C5C"/>
          </a:solidFill>
          <a:ln w="12700">
            <a:solidFill>
              <a:srgbClr val="146C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19088" y="3520440"/>
            <a:ext cx="4709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329"/>
                </a:solidFill>
              </a:rPr>
              <a:t>Supabase (next)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19088" y="3840480"/>
            <a:ext cx="4690872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37078"/>
                </a:solidFill>
              </a:rPr>
              <a:t>Persistence for RFxs, uploads, responses, and chat history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31520" y="5166360"/>
            <a:ext cx="13716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7078"/>
                </a:solidFill>
              </a:rPr>
              <a:t>Live application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31520" y="5431536"/>
            <a:ext cx="1069848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6C5C"/>
                </a:solidFill>
              </a:rPr>
              <a:t>aerchain-rfx-client-pskzpv86h-hridyanshusinghal-8342s-projects.vercel.app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66928" y="6510528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37078"/>
                </a:solidFill>
              </a:rPr>
              <a:t>10  |  Aerchain product take-home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29768"/>
            <a:ext cx="11155680" cy="0"/>
          </a:xfrm>
          <a:prstGeom prst="line">
            <a:avLst/>
          </a:prstGeom>
          <a:noFill/>
          <a:ln w="12700">
            <a:solidFill>
              <a:srgbClr val="DFE5E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164592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46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RFX PILOT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66928" y="66751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232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Demo narrative &amp; next steps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85216" y="1225296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370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 value first, then reveal how trust is earned.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914400" y="1737360"/>
            <a:ext cx="310896" cy="310896"/>
          </a:xfrm>
          <a:prstGeom prst="ellipse">
            <a:avLst/>
          </a:prstGeom>
          <a:solidFill>
            <a:srgbClr val="146C5C"/>
          </a:solidFill>
          <a:ln w="12700">
            <a:solidFill>
              <a:srgbClr val="146C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819656"/>
            <a:ext cx="1371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EFA"/>
                </a:solidFill>
              </a:rPr>
              <a:t>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417320" y="1773936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2329"/>
                </a:solidFill>
              </a:rPr>
              <a:t>Open the completed event: five response types, four eligible vendors, and a failed gate.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14400" y="2468880"/>
            <a:ext cx="310896" cy="310896"/>
          </a:xfrm>
          <a:prstGeom prst="ellipse">
            <a:avLst/>
          </a:prstGeom>
          <a:solidFill>
            <a:srgbClr val="146C5C"/>
          </a:solidFill>
          <a:ln w="12700">
            <a:solidFill>
              <a:srgbClr val="146C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2551176"/>
            <a:ext cx="1371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EFA"/>
                </a:solidFill>
              </a:rPr>
              <a:t>2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417320" y="2505456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2329"/>
                </a:solidFill>
              </a:rPr>
              <a:t>Compare confirmed values; point out USD, per-100, OCR uncertainty, and excluded data.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14400" y="3200400"/>
            <a:ext cx="310896" cy="310896"/>
          </a:xfrm>
          <a:prstGeom prst="ellipse">
            <a:avLst/>
          </a:prstGeom>
          <a:solidFill>
            <a:srgbClr val="146C5C"/>
          </a:solidFill>
          <a:ln w="12700">
            <a:solidFill>
              <a:srgbClr val="146C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3282696"/>
            <a:ext cx="1371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EFA"/>
                </a:solidFill>
              </a:rPr>
              <a:t>3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417320" y="3236976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2329"/>
                </a:solidFill>
              </a:rPr>
              <a:t>Change a line allocation; show the Recommendation total update and vendor-level freight logic.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14400" y="3931920"/>
            <a:ext cx="310896" cy="310896"/>
          </a:xfrm>
          <a:prstGeom prst="ellipse">
            <a:avLst/>
          </a:prstGeom>
          <a:solidFill>
            <a:srgbClr val="146C5C"/>
          </a:solidFill>
          <a:ln w="12700">
            <a:solidFill>
              <a:srgbClr val="146C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4014216"/>
            <a:ext cx="1371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EFA"/>
                </a:solidFill>
              </a:rPr>
              <a:t>4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417320" y="3968496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2329"/>
                </a:solidFill>
              </a:rPr>
              <a:t>Ask chat why a single-source award is risky; export the decision package.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14400" y="4663440"/>
            <a:ext cx="310896" cy="310896"/>
          </a:xfrm>
          <a:prstGeom prst="ellipse">
            <a:avLst/>
          </a:prstGeom>
          <a:solidFill>
            <a:srgbClr val="146C5C"/>
          </a:solidFill>
          <a:ln w="12700">
            <a:solidFill>
              <a:srgbClr val="146C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5840" y="4745736"/>
            <a:ext cx="1371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EFA"/>
                </a:solidFill>
              </a:rPr>
              <a:t>5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417320" y="4700016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2329"/>
                </a:solidFill>
              </a:rPr>
              <a:t>Create a new RFx and submit a vendor response to demonstrate the end-to-end path.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14400" y="571500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37078"/>
                </a:solidFill>
              </a:rPr>
              <a:t>Next: add Gemini key in Vercel, persist response bundles in Supabase, and expand the fixture set with PDF/DOCX imports.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66928" y="6510528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37078"/>
                </a:solidFill>
              </a:rPr>
              <a:t>11  |  Aerchain product take-home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Aerchain assignment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RFX Pilot</dc:title>
  <dc:subject>RFX Pilot product prototype</dc:subject>
  <dc:creator>Hridyanshu Singhal</dc:creator>
  <cp:lastModifiedBy>Hridyanshu Singhal</cp:lastModifiedBy>
  <cp:revision>1</cp:revision>
  <dcterms:created xsi:type="dcterms:W3CDTF">2026-09-26T06:25:43Z</dcterms:created>
  <dcterms:modified xsi:type="dcterms:W3CDTF">2026-09-26T06:25:43Z</dcterms:modified>
</cp:coreProperties>
</file>